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dp" ContentType="image/vnd.ms-photo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也承担着国家级，省级的若干个重大项目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1BD90-0399-4571-AF0B-3AA351237C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7" Type="http://schemas.openxmlformats.org/officeDocument/2006/relationships/image" Target="../media/image6.jpeg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5" Type="http://schemas.openxmlformats.org/officeDocument/2006/relationships/image" Target="../media/image11.png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85" y="150897"/>
            <a:ext cx="1809980" cy="487903"/>
          </a:xfrm>
          <a:prstGeom prst="rect">
            <a:avLst/>
          </a:prstGeom>
        </p:spPr>
      </p:pic>
      <p:sp>
        <p:nvSpPr>
          <p:cNvPr id="9" name="Line 16"/>
          <p:cNvSpPr>
            <a:spLocks noChangeShapeType="1"/>
          </p:cNvSpPr>
          <p:nvPr userDrawn="1"/>
        </p:nvSpPr>
        <p:spPr bwMode="auto">
          <a:xfrm flipH="1">
            <a:off x="1" y="762447"/>
            <a:ext cx="9468000" cy="0"/>
          </a:xfrm>
          <a:prstGeom prst="line">
            <a:avLst/>
          </a:prstGeom>
          <a:noFill/>
          <a:ln w="19050">
            <a:solidFill>
              <a:srgbClr val="184C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8850" tIns="54425" rIns="108850" bIns="54425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0" name="Line 17"/>
          <p:cNvSpPr>
            <a:spLocks noChangeShapeType="1"/>
          </p:cNvSpPr>
          <p:nvPr userDrawn="1"/>
        </p:nvSpPr>
        <p:spPr bwMode="auto">
          <a:xfrm flipV="1">
            <a:off x="-8878" y="762447"/>
            <a:ext cx="4128117" cy="36522"/>
          </a:xfrm>
          <a:prstGeom prst="line">
            <a:avLst/>
          </a:prstGeom>
          <a:noFill/>
          <a:ln w="76200">
            <a:solidFill>
              <a:srgbClr val="184C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8850" tIns="54425" rIns="108850" bIns="54425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765" y="5203570"/>
            <a:ext cx="2425243" cy="136266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03570"/>
            <a:ext cx="2425244" cy="136266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8"/>
          <a:stretch>
            <a:fillRect/>
          </a:stretch>
        </p:blipFill>
        <p:spPr>
          <a:xfrm>
            <a:off x="4835126" y="5203570"/>
            <a:ext cx="2520000" cy="137811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008" y="5203570"/>
            <a:ext cx="2423015" cy="136141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245" y="5203570"/>
            <a:ext cx="2425243" cy="1363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（无图片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85" y="150897"/>
            <a:ext cx="1809980" cy="487903"/>
          </a:xfrm>
          <a:prstGeom prst="rect">
            <a:avLst/>
          </a:prstGeom>
        </p:spPr>
      </p:pic>
      <p:sp>
        <p:nvSpPr>
          <p:cNvPr id="9" name="Line 16"/>
          <p:cNvSpPr>
            <a:spLocks noChangeShapeType="1"/>
          </p:cNvSpPr>
          <p:nvPr userDrawn="1"/>
        </p:nvSpPr>
        <p:spPr bwMode="auto">
          <a:xfrm flipH="1">
            <a:off x="1" y="762447"/>
            <a:ext cx="9468000" cy="0"/>
          </a:xfrm>
          <a:prstGeom prst="line">
            <a:avLst/>
          </a:prstGeom>
          <a:noFill/>
          <a:ln w="19050">
            <a:solidFill>
              <a:srgbClr val="184C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8850" tIns="54425" rIns="108850" bIns="54425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0" name="Line 17"/>
          <p:cNvSpPr>
            <a:spLocks noChangeShapeType="1"/>
          </p:cNvSpPr>
          <p:nvPr userDrawn="1"/>
        </p:nvSpPr>
        <p:spPr bwMode="auto">
          <a:xfrm flipV="1">
            <a:off x="-8878" y="762447"/>
            <a:ext cx="4128117" cy="36522"/>
          </a:xfrm>
          <a:prstGeom prst="line">
            <a:avLst/>
          </a:prstGeom>
          <a:noFill/>
          <a:ln w="76200">
            <a:solidFill>
              <a:srgbClr val="184C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8850" tIns="54425" rIns="108850" bIns="54425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2" y="-133350"/>
            <a:ext cx="12192000" cy="6858000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8" name="Rectangle 12"/>
          <p:cNvSpPr>
            <a:spLocks noChangeArrowheads="1"/>
          </p:cNvSpPr>
          <p:nvPr userDrawn="1"/>
        </p:nvSpPr>
        <p:spPr bwMode="auto">
          <a:xfrm rot="5400000">
            <a:off x="3170586" y="-2163415"/>
            <a:ext cx="5838827" cy="12204002"/>
          </a:xfrm>
          <a:prstGeom prst="rect">
            <a:avLst/>
          </a:prstGeom>
          <a:gradFill rotWithShape="1">
            <a:gsLst>
              <a:gs pos="100000">
                <a:srgbClr val="E8F1F9"/>
              </a:gs>
              <a:gs pos="54000">
                <a:schemeClr val="bg1">
                  <a:alpha val="6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defRPr/>
            </a:pPr>
            <a:endParaRPr lang="zh-CN" altLang="en-US" b="1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9" name="组合 22"/>
          <p:cNvGrpSpPr/>
          <p:nvPr userDrawn="1"/>
        </p:nvGrpSpPr>
        <p:grpSpPr bwMode="auto">
          <a:xfrm>
            <a:off x="-227344" y="2205658"/>
            <a:ext cx="12430455" cy="2423086"/>
            <a:chOff x="97366" y="177982"/>
            <a:chExt cx="4009332" cy="781165"/>
          </a:xfrm>
        </p:grpSpPr>
        <p:sp>
          <p:nvSpPr>
            <p:cNvPr id="10" name="等腰三角形 10"/>
            <p:cNvSpPr>
              <a:spLocks noChangeArrowheads="1"/>
            </p:cNvSpPr>
            <p:nvPr/>
          </p:nvSpPr>
          <p:spPr bwMode="auto">
            <a:xfrm>
              <a:off x="1131028" y="177982"/>
              <a:ext cx="355305" cy="356285"/>
            </a:xfrm>
            <a:prstGeom prst="triangle">
              <a:avLst>
                <a:gd name="adj" fmla="val 50000"/>
              </a:avLst>
            </a:prstGeom>
            <a:solidFill>
              <a:srgbClr val="5D63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en-US" sz="1800">
                <a:solidFill>
                  <a:srgbClr val="FFFFFF"/>
                </a:solidFill>
              </a:endParaRPr>
            </a:p>
          </p:txBody>
        </p:sp>
        <p:sp>
          <p:nvSpPr>
            <p:cNvPr id="11" name="等腰三角形 11"/>
            <p:cNvSpPr>
              <a:spLocks noChangeArrowheads="1"/>
            </p:cNvSpPr>
            <p:nvPr/>
          </p:nvSpPr>
          <p:spPr bwMode="auto">
            <a:xfrm flipV="1">
              <a:off x="97366" y="602862"/>
              <a:ext cx="355305" cy="356285"/>
            </a:xfrm>
            <a:prstGeom prst="triangle">
              <a:avLst>
                <a:gd name="adj" fmla="val 50000"/>
              </a:avLst>
            </a:prstGeom>
            <a:solidFill>
              <a:srgbClr val="5D63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en-US" sz="1800">
                <a:solidFill>
                  <a:srgbClr val="FFFFFF"/>
                </a:solidFill>
              </a:endParaRPr>
            </a:p>
          </p:txBody>
        </p:sp>
        <p:sp>
          <p:nvSpPr>
            <p:cNvPr id="12" name="矩形 12"/>
            <p:cNvSpPr>
              <a:spLocks noChangeArrowheads="1"/>
            </p:cNvSpPr>
            <p:nvPr/>
          </p:nvSpPr>
          <p:spPr bwMode="auto">
            <a:xfrm>
              <a:off x="170694" y="261934"/>
              <a:ext cx="3936004" cy="611725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en-US" sz="1800">
                <a:solidFill>
                  <a:srgbClr val="FFFFFF"/>
                </a:solidFill>
              </a:endParaRPr>
            </a:p>
          </p:txBody>
        </p:sp>
        <p:sp>
          <p:nvSpPr>
            <p:cNvPr id="13" name="平行四边形 13"/>
            <p:cNvSpPr>
              <a:spLocks noChangeArrowheads="1"/>
            </p:cNvSpPr>
            <p:nvPr/>
          </p:nvSpPr>
          <p:spPr bwMode="auto">
            <a:xfrm>
              <a:off x="273995" y="180542"/>
              <a:ext cx="1036222" cy="778605"/>
            </a:xfrm>
            <a:prstGeom prst="parallelogram">
              <a:avLst>
                <a:gd name="adj" fmla="val 48207"/>
              </a:avLst>
            </a:prstGeom>
            <a:solidFill>
              <a:schemeClr val="accent1">
                <a:lumMod val="75000"/>
              </a:schemeClr>
            </a:solidFill>
            <a:ln w="9525">
              <a:noFill/>
              <a:miter lim="800000"/>
            </a:ln>
          </p:spPr>
          <p:txBody>
            <a:bodyPr lIns="68580" tIns="34290" rIns="68580" bIns="3429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en-US" sz="1800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313025"/>
            <a:ext cx="2760215" cy="7440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9" name="Rectangle 12"/>
          <p:cNvSpPr>
            <a:spLocks noChangeArrowheads="1"/>
          </p:cNvSpPr>
          <p:nvPr userDrawn="1"/>
        </p:nvSpPr>
        <p:spPr bwMode="auto">
          <a:xfrm rot="5400000">
            <a:off x="3176587" y="-2157412"/>
            <a:ext cx="5838827" cy="12192001"/>
          </a:xfrm>
          <a:prstGeom prst="rect">
            <a:avLst/>
          </a:prstGeom>
          <a:gradFill rotWithShape="1">
            <a:gsLst>
              <a:gs pos="100000">
                <a:srgbClr val="E8F1F9"/>
              </a:gs>
              <a:gs pos="54000">
                <a:schemeClr val="bg1">
                  <a:alpha val="6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defRPr/>
            </a:pPr>
            <a:endParaRPr lang="zh-CN" altLang="en-US" b="1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843925"/>
            <a:ext cx="12192000" cy="0"/>
          </a:xfrm>
          <a:prstGeom prst="line">
            <a:avLst/>
          </a:prstGeom>
          <a:ln w="952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035" y="269181"/>
            <a:ext cx="1809980" cy="487903"/>
          </a:xfrm>
          <a:prstGeom prst="rect">
            <a:avLst/>
          </a:prstGeom>
        </p:spPr>
      </p:pic>
      <p:grpSp>
        <p:nvGrpSpPr>
          <p:cNvPr id="13" name="Group 7"/>
          <p:cNvGrpSpPr/>
          <p:nvPr userDrawn="1"/>
        </p:nvGrpSpPr>
        <p:grpSpPr bwMode="auto">
          <a:xfrm>
            <a:off x="363985" y="345947"/>
            <a:ext cx="766708" cy="346756"/>
            <a:chOff x="0" y="0"/>
            <a:chExt cx="1041399" cy="549275"/>
          </a:xfrm>
        </p:grpSpPr>
        <p:sp>
          <p:nvSpPr>
            <p:cNvPr id="14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6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11" name="Rectangle 12"/>
          <p:cNvSpPr>
            <a:spLocks noChangeArrowheads="1"/>
          </p:cNvSpPr>
          <p:nvPr userDrawn="1"/>
        </p:nvSpPr>
        <p:spPr bwMode="auto">
          <a:xfrm rot="5400000">
            <a:off x="3134075" y="-2199922"/>
            <a:ext cx="5923847" cy="12191999"/>
          </a:xfrm>
          <a:prstGeom prst="rect">
            <a:avLst/>
          </a:prstGeom>
          <a:gradFill rotWithShape="1">
            <a:gsLst>
              <a:gs pos="100000">
                <a:srgbClr val="E8F1F9"/>
              </a:gs>
              <a:gs pos="54000">
                <a:schemeClr val="bg1">
                  <a:alpha val="6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defRPr/>
            </a:pPr>
            <a:endParaRPr lang="zh-CN" altLang="en-US" b="1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2" name="图片 11"/>
          <p:cNvPicPr/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12204000" cy="77989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276" y="154256"/>
            <a:ext cx="1898197" cy="5116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版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microsoft.com/office/2007/relationships/hdphoto" Target="../media/image20.wdp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microsoft.com/office/2007/relationships/hdphoto" Target="../media/image17.wdp"/><Relationship Id="rId5" Type="http://schemas.openxmlformats.org/officeDocument/2006/relationships/image" Target="../media/image16.png"/><Relationship Id="rId4" Type="http://schemas.microsoft.com/office/2007/relationships/hdphoto" Target="../media/image15.wdp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0" Type="http://schemas.openxmlformats.org/officeDocument/2006/relationships/slideLayout" Target="../slideLayouts/slideLayout15.xml"/><Relationship Id="rId1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jpeg"/><Relationship Id="rId8" Type="http://schemas.openxmlformats.org/officeDocument/2006/relationships/image" Target="../media/image28.jpe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5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/>
          <p:cNvSpPr/>
          <p:nvPr/>
        </p:nvSpPr>
        <p:spPr>
          <a:xfrm>
            <a:off x="304800" y="1027176"/>
            <a:ext cx="11582400" cy="5531083"/>
          </a:xfrm>
          <a:prstGeom prst="roundRect">
            <a:avLst>
              <a:gd name="adj" fmla="val 1907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 descr="穿西装戴眼镜的男人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8" r="8624"/>
          <a:stretch>
            <a:fillRect/>
          </a:stretch>
        </p:blipFill>
        <p:spPr>
          <a:xfrm>
            <a:off x="483175" y="1972183"/>
            <a:ext cx="1563724" cy="1968476"/>
          </a:xfrm>
          <a:prstGeom prst="rect">
            <a:avLst/>
          </a:prstGeom>
          <a:ln w="2222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文本框 4"/>
          <p:cNvSpPr txBox="1"/>
          <p:nvPr/>
        </p:nvSpPr>
        <p:spPr>
          <a:xfrm>
            <a:off x="2141963" y="1947046"/>
            <a:ext cx="427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徐凯 教授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国家杰出青年基金获得者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57257" y="252497"/>
            <a:ext cx="9891712" cy="1115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zh-CN" altLang="en-US" sz="2800" b="1" i="0" u="none" strike="noStrike" kern="1200" cap="none" spc="10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一、</a:t>
            </a:r>
            <a:r>
              <a:rPr lang="zh-CN" altLang="en-US" sz="2800" b="1" spc="100" dirty="0">
                <a:solidFill>
                  <a:srgbClr val="4472C4">
                    <a:lumMod val="75000"/>
                  </a:srgb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团队介绍</a:t>
            </a:r>
            <a:endParaRPr lang="zh-CN" altLang="en-US" sz="2800" b="1" spc="100" dirty="0">
              <a:solidFill>
                <a:srgbClr val="4472C4">
                  <a:lumMod val="75000"/>
                </a:srgb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marR="0" lvl="1" indent="0" algn="l" defTabSz="914400" rtl="0" eaLnBrk="1" fontAlgn="auto" latinLnBrk="0" hangingPunct="1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10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485560" y="4069924"/>
            <a:ext cx="4696040" cy="23152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812600" y="1190026"/>
            <a:ext cx="2596840" cy="591492"/>
          </a:xfrm>
          <a:prstGeom prst="roundRect">
            <a:avLst>
              <a:gd name="adj" fmla="val 5000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项目负责人概况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141963" y="2347156"/>
            <a:ext cx="4503780" cy="1470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主持 国家自然科学基金委、军委科技委等研究任务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牵头 战略支援部队、工信部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″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揭榜挂帅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″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等核心攻关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032125" y="2931022"/>
            <a:ext cx="2863595" cy="402940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2" name="组合 41"/>
          <p:cNvGrpSpPr/>
          <p:nvPr/>
        </p:nvGrpSpPr>
        <p:grpSpPr>
          <a:xfrm>
            <a:off x="9052141" y="1311327"/>
            <a:ext cx="2596840" cy="1826387"/>
            <a:chOff x="8209649" y="3878062"/>
            <a:chExt cx="2408988" cy="1694268"/>
          </a:xfrm>
        </p:grpSpPr>
        <p:pic>
          <p:nvPicPr>
            <p:cNvPr id="35" name="图片 34"/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rcRect b="5212"/>
            <a:stretch>
              <a:fillRect/>
            </a:stretch>
          </p:blipFill>
          <p:spPr>
            <a:xfrm rot="5400000">
              <a:off x="8567009" y="3520702"/>
              <a:ext cx="1694268" cy="2408988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2" name="矩形 31"/>
            <p:cNvSpPr/>
            <p:nvPr/>
          </p:nvSpPr>
          <p:spPr>
            <a:xfrm>
              <a:off x="9839509" y="4207037"/>
              <a:ext cx="708282" cy="5848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7873036" y="1381587"/>
            <a:ext cx="2596841" cy="1934628"/>
            <a:chOff x="10750139" y="3878062"/>
            <a:chExt cx="2274207" cy="1694268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5400000">
              <a:off x="11040109" y="3588092"/>
              <a:ext cx="1694268" cy="2274207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3" name="矩形 32"/>
            <p:cNvSpPr/>
            <p:nvPr/>
          </p:nvSpPr>
          <p:spPr>
            <a:xfrm>
              <a:off x="12213446" y="4313171"/>
              <a:ext cx="708282" cy="5848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pic>
        <p:nvPicPr>
          <p:cNvPr id="37" name="图片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6624" y="3516509"/>
            <a:ext cx="2054895" cy="28635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8" name="文本框 37"/>
          <p:cNvSpPr txBox="1"/>
          <p:nvPr/>
        </p:nvSpPr>
        <p:spPr>
          <a:xfrm>
            <a:off x="537268" y="4107637"/>
            <a:ext cx="4466333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2021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湖南省 自然科学一等奖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排名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1)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2024 CCF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自然科学一等奖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排名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1)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2015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湖南省 自然科学一等奖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(3)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2020 CCF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自然科学一等奖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(3)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2013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军队 科技进步二等奖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(6)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2024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中国电子学会青年科学家奖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2016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首届 全国几何设计与计算 青年学者奖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7076182" y="1085743"/>
            <a:ext cx="1868537" cy="265677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257258" y="252497"/>
            <a:ext cx="7994476" cy="51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800" b="1" spc="100" dirty="0">
                <a:solidFill>
                  <a:srgbClr val="4472C4">
                    <a:lumMod val="75000"/>
                  </a:srgb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一、</a:t>
            </a:r>
            <a:r>
              <a:rPr lang="zh-CN" altLang="en-US" sz="2800" b="1" spc="100" dirty="0">
                <a:solidFill>
                  <a:srgbClr val="4472C4">
                    <a:lumMod val="75000"/>
                  </a:srgb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团队介绍</a:t>
            </a:r>
            <a:endParaRPr lang="zh-CN" altLang="en-US" sz="2800" b="1" spc="100" dirty="0">
              <a:solidFill>
                <a:srgbClr val="4472C4">
                  <a:lumMod val="75000"/>
                </a:srgb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311330" y="881205"/>
            <a:ext cx="11783260" cy="2337430"/>
          </a:xfrm>
        </p:spPr>
        <p:txBody>
          <a:bodyPr>
            <a:normAutofit/>
          </a:bodyPr>
          <a:lstStyle>
            <a:lvl1pPr marL="313055" indent="-313055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"/>
              <a:defRPr lang="zh-CN" altLang="en-US" sz="28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93725" indent="-281305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Tx/>
              <a:buBlip>
                <a:blip r:embed="rId1"/>
              </a:buBlip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218565">
              <a:lnSpc>
                <a:spcPct val="120000"/>
              </a:lnSpc>
              <a:spcBef>
                <a:spcPts val="8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</a:rPr>
              <a:t>研究方向（</a:t>
            </a:r>
            <a:r>
              <a:rPr lang="zh-CN" altLang="en-US" sz="2000" dirty="0">
                <a:solidFill>
                  <a:srgbClr val="000000"/>
                </a:solidFill>
                <a:sym typeface="+mn-ea"/>
              </a:rPr>
              <a:t>原创基础理论突破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</a:rPr>
              <a:t>）：物理人工智能的基础理论与系统方法论。包括：①机理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</a:rPr>
              <a:t>数据融合的世界模型；②智能制造空间的元认知世界模型；③世界模型驱动的工业具身智能应用统一开发范式。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</a:endParaRPr>
          </a:p>
          <a:p>
            <a:pPr lvl="0" defTabSz="1218565">
              <a:lnSpc>
                <a:spcPct val="120000"/>
              </a:lnSpc>
              <a:spcBef>
                <a:spcPts val="8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</a:rPr>
              <a:t>团队人数 </a:t>
            </a:r>
            <a:r>
              <a:rPr lang="en-US" altLang="zh-CN" sz="20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30 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</a:rPr>
              <a:t>人以上，含杰青 </a:t>
            </a:r>
            <a:r>
              <a:rPr lang="en-US" altLang="zh-CN" sz="20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1 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</a:rPr>
              <a:t>名，海优 </a:t>
            </a:r>
            <a:r>
              <a:rPr lang="en-US" altLang="zh-CN" sz="20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1 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</a:rPr>
              <a:t>名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</a:rPr>
              <a:t>(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</a:rPr>
              <a:t>客座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</a:rPr>
              <a:t>)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</a:rPr>
              <a:t>，博新计划 </a:t>
            </a:r>
            <a:r>
              <a:rPr lang="en-US" altLang="zh-CN" sz="20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1 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</a:rPr>
              <a:t>名，</a:t>
            </a:r>
            <a:r>
              <a:rPr lang="en-US" altLang="zh-CN" sz="2000" b="0" dirty="0">
                <a:solidFill>
                  <a:prstClr val="black"/>
                </a:solidFill>
                <a:latin typeface="微软雅黑" panose="020B0503020204020204" pitchFamily="34" charset="-122"/>
              </a:rPr>
              <a:t>2026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</a:rPr>
              <a:t>年申报海优 </a:t>
            </a:r>
            <a:r>
              <a:rPr lang="en-US" altLang="zh-CN" sz="21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2 </a:t>
            </a: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</a:rPr>
              <a:t>名</a:t>
            </a:r>
            <a:endParaRPr lang="en-US" altLang="zh-CN" sz="2000" b="0" dirty="0">
              <a:solidFill>
                <a:prstClr val="black"/>
              </a:solidFill>
              <a:latin typeface="微软雅黑" panose="020B0503020204020204" pitchFamily="34" charset="-122"/>
            </a:endParaRPr>
          </a:p>
          <a:p>
            <a:pPr lvl="0" defTabSz="1218565">
              <a:lnSpc>
                <a:spcPct val="120000"/>
              </a:lnSpc>
              <a:spcBef>
                <a:spcPts val="8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0" dirty="0">
                <a:solidFill>
                  <a:prstClr val="black"/>
                </a:solidFill>
                <a:latin typeface="微软雅黑" panose="020B0503020204020204" pitchFamily="34" charset="-122"/>
              </a:rPr>
              <a:t>获得 </a:t>
            </a:r>
            <a:r>
              <a:rPr lang="en-US" altLang="zh-CN" sz="20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SIGGRAPH Asia“</a:t>
            </a:r>
            <a:r>
              <a:rPr lang="zh-CN" altLang="en-US" sz="20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时间检验奖”、</a:t>
            </a:r>
            <a:r>
              <a:rPr lang="en-US" altLang="zh-CN" sz="20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ICRA 2026</a:t>
            </a:r>
            <a:r>
              <a:rPr lang="zh-CN" altLang="en-US" sz="20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最佳论文奖、</a:t>
            </a:r>
            <a:r>
              <a:rPr lang="en-US" altLang="zh-CN" sz="20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《</a:t>
            </a:r>
            <a:r>
              <a:rPr lang="zh-CN" altLang="en-US" sz="20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中国科学</a:t>
            </a:r>
            <a:r>
              <a:rPr lang="en-US" altLang="zh-CN" sz="20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∙</a:t>
            </a:r>
            <a:r>
              <a:rPr lang="zh-CN" altLang="en-US" sz="20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信息科学</a:t>
            </a:r>
            <a:r>
              <a:rPr lang="en-US" altLang="zh-CN" sz="20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》</a:t>
            </a:r>
            <a:r>
              <a:rPr lang="zh-CN" altLang="en-US" sz="20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年度优秀论文、</a:t>
            </a:r>
            <a:r>
              <a:rPr lang="en-US" altLang="zh-CN" sz="2000" b="0" dirty="0" err="1">
                <a:solidFill>
                  <a:srgbClr val="C00000"/>
                </a:solidFill>
                <a:latin typeface="微软雅黑" panose="020B0503020204020204" pitchFamily="34" charset="-122"/>
              </a:rPr>
              <a:t>WorldArena</a:t>
            </a:r>
            <a:r>
              <a:rPr lang="zh-CN" altLang="en-US" sz="20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世界模型排行榜第一、</a:t>
            </a:r>
            <a:r>
              <a:rPr lang="en-US" altLang="zh-CN" sz="20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ICRA 2026</a:t>
            </a:r>
            <a:r>
              <a:rPr lang="zh-CN" altLang="en-US" sz="20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世界模型挑战赛亚军</a:t>
            </a:r>
            <a:endParaRPr lang="en-US" altLang="zh-CN" sz="2000" b="0" dirty="0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60088" y="3348881"/>
            <a:ext cx="11620581" cy="3415432"/>
          </a:xfrm>
          <a:prstGeom prst="roundRect">
            <a:avLst>
              <a:gd name="adj" fmla="val 3253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4893088" y="3150259"/>
            <a:ext cx="2354580" cy="432118"/>
          </a:xfrm>
          <a:prstGeom prst="roundRect">
            <a:avLst>
              <a:gd name="adj" fmla="val 5000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zh-CN" altLang="en-US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团队成员概况</a:t>
            </a:r>
            <a:endParaRPr lang="zh-CN" altLang="en-US" sz="20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>
            <a:grpSpLocks noChangeAspect="1"/>
          </p:cNvGrpSpPr>
          <p:nvPr/>
        </p:nvGrpSpPr>
        <p:grpSpPr>
          <a:xfrm>
            <a:off x="260087" y="3774629"/>
            <a:ext cx="11620581" cy="2913189"/>
            <a:chOff x="-1525968" y="3120885"/>
            <a:chExt cx="13388483" cy="3356386"/>
          </a:xfrm>
        </p:grpSpPr>
        <p:grpSp>
          <p:nvGrpSpPr>
            <p:cNvPr id="12" name="组合 11"/>
            <p:cNvGrpSpPr>
              <a:grpSpLocks noChangeAspect="1"/>
            </p:cNvGrpSpPr>
            <p:nvPr/>
          </p:nvGrpSpPr>
          <p:grpSpPr>
            <a:xfrm>
              <a:off x="-1349173" y="3120885"/>
              <a:ext cx="13211688" cy="3356386"/>
              <a:chOff x="-1349173" y="3120885"/>
              <a:chExt cx="13211688" cy="3356386"/>
            </a:xfrm>
          </p:grpSpPr>
          <p:grpSp>
            <p:nvGrpSpPr>
              <p:cNvPr id="21" name="组合 20"/>
              <p:cNvGrpSpPr>
                <a:grpSpLocks noChangeAspect="1"/>
              </p:cNvGrpSpPr>
              <p:nvPr/>
            </p:nvGrpSpPr>
            <p:grpSpPr>
              <a:xfrm>
                <a:off x="191393" y="3120885"/>
                <a:ext cx="11671122" cy="3356386"/>
                <a:chOff x="191669" y="3024365"/>
                <a:chExt cx="11829693" cy="3401988"/>
              </a:xfrm>
            </p:grpSpPr>
            <p:grpSp>
              <p:nvGrpSpPr>
                <p:cNvPr id="28" name="组合 27"/>
                <p:cNvGrpSpPr/>
                <p:nvPr/>
              </p:nvGrpSpPr>
              <p:grpSpPr>
                <a:xfrm>
                  <a:off x="191669" y="3024365"/>
                  <a:ext cx="10226120" cy="3401988"/>
                  <a:chOff x="220514" y="3042653"/>
                  <a:chExt cx="11826035" cy="3934242"/>
                </a:xfrm>
              </p:grpSpPr>
              <p:pic>
                <p:nvPicPr>
                  <p:cNvPr id="32" name="图片 31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2397701" y="3042653"/>
                    <a:ext cx="1692214" cy="2275104"/>
                  </a:xfrm>
                  <a:prstGeom prst="rect">
                    <a:avLst/>
                  </a:prstGeom>
                </p:spPr>
              </p:pic>
              <p:pic>
                <p:nvPicPr>
                  <p:cNvPr id="33" name="图片 32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390226" y="3042654"/>
                    <a:ext cx="1596516" cy="2275104"/>
                  </a:xfrm>
                  <a:prstGeom prst="rect">
                    <a:avLst/>
                  </a:prstGeom>
                </p:spPr>
              </p:pic>
              <p:pic>
                <p:nvPicPr>
                  <p:cNvPr id="34" name="图片 33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391473" y="3042653"/>
                    <a:ext cx="1697195" cy="2275105"/>
                  </a:xfrm>
                  <a:prstGeom prst="rect">
                    <a:avLst/>
                  </a:prstGeom>
                </p:spPr>
              </p:pic>
              <p:sp>
                <p:nvSpPr>
                  <p:cNvPr id="35" name="文本框 34"/>
                  <p:cNvSpPr txBox="1"/>
                  <p:nvPr/>
                </p:nvSpPr>
                <p:spPr>
                  <a:xfrm>
                    <a:off x="2190467" y="5293513"/>
                    <a:ext cx="2106681" cy="144151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赵  航</a:t>
                    </a:r>
                    <a:endPara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博新计划</a:t>
                    </a:r>
                    <a:endParaRPr lang="en-US" altLang="zh-CN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国防科大博士</a:t>
                    </a:r>
                    <a:endParaRPr lang="en-US" altLang="zh-CN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具身智能方向</a:t>
                    </a:r>
                    <a:endParaRPr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" name="文本框 36"/>
                  <p:cNvSpPr txBox="1"/>
                  <p:nvPr/>
                </p:nvSpPr>
                <p:spPr>
                  <a:xfrm>
                    <a:off x="6135143" y="5293513"/>
                    <a:ext cx="2106681" cy="144151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彭志宇</a:t>
                    </a:r>
                    <a:endPara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特别研究助理</a:t>
                    </a:r>
                    <a:endParaRPr lang="en-US" altLang="zh-CN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东南大学博士</a:t>
                    </a:r>
                    <a:endParaRPr lang="en-US" altLang="zh-CN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机理建模方向</a:t>
                    </a:r>
                    <a:endParaRPr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4" name="文本框 43"/>
                  <p:cNvSpPr txBox="1"/>
                  <p:nvPr/>
                </p:nvSpPr>
                <p:spPr>
                  <a:xfrm>
                    <a:off x="4186730" y="5293513"/>
                    <a:ext cx="2106681" cy="144151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朱志斌</a:t>
                    </a:r>
                    <a:endPara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特别研究助理</a:t>
                    </a:r>
                    <a:endParaRPr lang="en-US" altLang="zh-CN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南开大学博士</a:t>
                    </a:r>
                    <a:endParaRPr lang="en-US" altLang="zh-CN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具身智能方向</a:t>
                    </a:r>
                    <a:endParaRPr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pic>
                <p:nvPicPr>
                  <p:cNvPr id="45" name="图片 44"/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456" r="2456"/>
                  <a:stretch>
                    <a:fillRect/>
                  </a:stretch>
                </p:blipFill>
                <p:spPr>
                  <a:xfrm>
                    <a:off x="10192092" y="3042653"/>
                    <a:ext cx="1602234" cy="2275049"/>
                  </a:xfrm>
                  <a:prstGeom prst="rect">
                    <a:avLst/>
                  </a:prstGeom>
                </p:spPr>
              </p:pic>
              <p:pic>
                <p:nvPicPr>
                  <p:cNvPr id="46" name="图片 45"/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8288300" y="3042653"/>
                    <a:ext cx="1602234" cy="2275105"/>
                  </a:xfrm>
                  <a:prstGeom prst="rect">
                    <a:avLst/>
                  </a:prstGeom>
                </p:spPr>
              </p:pic>
              <p:sp>
                <p:nvSpPr>
                  <p:cNvPr id="47" name="文本框 46"/>
                  <p:cNvSpPr txBox="1"/>
                  <p:nvPr/>
                </p:nvSpPr>
                <p:spPr>
                  <a:xfrm>
                    <a:off x="8036077" y="5293513"/>
                    <a:ext cx="2106681" cy="144151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肖贺文</a:t>
                    </a:r>
                    <a:endPara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特别研究助理</a:t>
                    </a:r>
                    <a:endParaRPr lang="en-US" altLang="zh-CN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大连理工博士</a:t>
                    </a:r>
                    <a:endParaRPr lang="en-US" altLang="zh-CN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具身智能方向</a:t>
                    </a:r>
                    <a:endParaRPr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" name="文本框 47"/>
                  <p:cNvSpPr txBox="1"/>
                  <p:nvPr/>
                </p:nvSpPr>
                <p:spPr>
                  <a:xfrm>
                    <a:off x="9939867" y="5293512"/>
                    <a:ext cx="2106682" cy="168338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许聚展</a:t>
                    </a:r>
                    <a:endPara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ICRA</a:t>
                    </a: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最佳论文</a:t>
                    </a:r>
                    <a:endParaRPr lang="en-US" altLang="zh-CN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深圳大学博士</a:t>
                    </a:r>
                    <a:endParaRPr lang="en-US" altLang="zh-CN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世界模型方向</a:t>
                    </a:r>
                    <a:endParaRPr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" name="文本框 48"/>
                  <p:cNvSpPr txBox="1"/>
                  <p:nvPr/>
                </p:nvSpPr>
                <p:spPr>
                  <a:xfrm>
                    <a:off x="220514" y="5348858"/>
                    <a:ext cx="2106680" cy="160833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刘天添</a:t>
                    </a:r>
                    <a:endPara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客座研究员</a:t>
                    </a:r>
                    <a:endParaRPr lang="en-US" altLang="zh-CN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宾夕法尼亚大学博士</a:t>
                    </a:r>
                    <a:endParaRPr lang="en-US" altLang="zh-CN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spcAft>
                        <a:spcPts val="600"/>
                      </a:spcAft>
                    </a:pP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物理仿真方向</a:t>
                    </a:r>
                    <a:endParaRPr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pic>
              <p:nvPicPr>
                <p:cNvPr id="29" name="图片 28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871" r="12397"/>
                <a:stretch>
                  <a:fillRect/>
                </a:stretch>
              </p:blipFill>
              <p:spPr>
                <a:xfrm>
                  <a:off x="354212" y="3052564"/>
                  <a:ext cx="1463093" cy="1935165"/>
                </a:xfrm>
                <a:prstGeom prst="rect">
                  <a:avLst/>
                </a:prstGeom>
              </p:spPr>
            </p:pic>
            <p:pic>
              <p:nvPicPr>
                <p:cNvPr id="30" name="图片 29"/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293"/>
                <a:stretch>
                  <a:fillRect/>
                </a:stretch>
              </p:blipFill>
              <p:spPr>
                <a:xfrm>
                  <a:off x="10415318" y="3024365"/>
                  <a:ext cx="1427218" cy="1972174"/>
                </a:xfrm>
                <a:prstGeom prst="rect">
                  <a:avLst/>
                </a:prstGeom>
              </p:spPr>
            </p:pic>
            <p:sp>
              <p:nvSpPr>
                <p:cNvPr id="31" name="文本框 30"/>
                <p:cNvSpPr txBox="1"/>
                <p:nvPr/>
              </p:nvSpPr>
              <p:spPr>
                <a:xfrm>
                  <a:off x="10199689" y="4967859"/>
                  <a:ext cx="1821673" cy="12464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zh-CN" altLang="en-US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周子皓</a:t>
                  </a:r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spcAft>
                      <a:spcPts val="600"/>
                    </a:spcAft>
                  </a:pPr>
                  <a:r>
                    <a:rPr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工程师</a:t>
                  </a:r>
                  <a:endPara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spcAft>
                      <a:spcPts val="600"/>
                    </a:spcAft>
                  </a:pPr>
                  <a:r>
                    <a:rPr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软件所硕士</a:t>
                  </a:r>
                  <a:endPara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spcAft>
                      <a:spcPts val="600"/>
                    </a:spcAft>
                  </a:pPr>
                  <a:r>
                    <a:rPr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物理仿真方向</a:t>
                  </a:r>
                  <a:endPara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22" name="Picture 2" descr="Photo"/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780"/>
              <a:stretch>
                <a:fillRect/>
              </a:stretch>
            </p:blipFill>
            <p:spPr bwMode="auto">
              <a:xfrm>
                <a:off x="-1349173" y="3120885"/>
                <a:ext cx="1443664" cy="1940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" name="文本框 17"/>
            <p:cNvSpPr txBox="1"/>
            <p:nvPr/>
          </p:nvSpPr>
          <p:spPr>
            <a:xfrm>
              <a:off x="-1525968" y="5066624"/>
              <a:ext cx="1797254" cy="1400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崔兆鹏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ts val="600"/>
                </a:spcAft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海外优青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ts val="6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西蒙弗雷泽大学博士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ts val="600"/>
                </a:spcAft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物理仿真方向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</Words>
  <Application>WPS 演示</Application>
  <PresentationFormat>宽屏</PresentationFormat>
  <Paragraphs>66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楷体_GB2312</vt:lpstr>
      <vt:lpstr>新宋体</vt:lpstr>
      <vt:lpstr>华文中宋</vt:lpstr>
      <vt:lpstr>微软雅黑</vt:lpstr>
      <vt:lpstr>Times New Roman</vt:lpstr>
      <vt:lpstr>等线</vt:lpstr>
      <vt:lpstr>黑体</vt:lpstr>
      <vt:lpstr>Calibri</vt:lpstr>
      <vt:lpstr>WPS</vt:lpstr>
      <vt:lpstr>自定义设计方案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zhiyu</dc:creator>
  <cp:lastModifiedBy>pzy</cp:lastModifiedBy>
  <cp:revision>5</cp:revision>
  <dcterms:created xsi:type="dcterms:W3CDTF">2023-08-09T12:44:00Z</dcterms:created>
  <dcterms:modified xsi:type="dcterms:W3CDTF">2026-09-21T08:52:24Z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CEBCBDC603BF4528B2767438C23B61EA_12</vt:lpwstr>
  </property>
</Properties>
</file>